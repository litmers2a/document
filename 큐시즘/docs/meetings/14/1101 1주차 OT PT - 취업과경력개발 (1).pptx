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6" r:id="rId2"/>
  </p:sldMasterIdLst>
  <p:notesMasterIdLst>
    <p:notesMasterId r:id="rId14"/>
  </p:notesMasterIdLst>
  <p:sldIdLst>
    <p:sldId id="256" r:id="rId3"/>
    <p:sldId id="499" r:id="rId4"/>
    <p:sldId id="2179" r:id="rId5"/>
    <p:sldId id="2220" r:id="rId6"/>
    <p:sldId id="2200" r:id="rId7"/>
    <p:sldId id="2211" r:id="rId8"/>
    <p:sldId id="2219" r:id="rId9"/>
    <p:sldId id="2209" r:id="rId10"/>
    <p:sldId id="2178" r:id="rId11"/>
    <p:sldId id="2181" r:id="rId12"/>
    <p:sldId id="529" r:id="rId13"/>
  </p:sldIdLst>
  <p:sldSz cx="9144000" cy="6858000" type="screen4x3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86" d="100"/>
          <a:sy n="86" d="100"/>
        </p:scale>
        <p:origin x="129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4E2E1B-C1C1-42EB-892E-A2AD930D9B7D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DDF10-650E-4F10-9A19-1E4FBD327C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3872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0CC89-8C94-4AA2-929B-AF81761BA581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60397-110D-4495-B799-A991ACA570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1127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0CC89-8C94-4AA2-929B-AF81761BA581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60397-110D-4495-B799-A991ACA570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9711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0CC89-8C94-4AA2-929B-AF81761BA581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60397-110D-4495-B799-A991ACA570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1985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0CC89-8C94-4AA2-929B-AF81761BA581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60397-110D-4495-B799-A991ACA570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9871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0CC89-8C94-4AA2-929B-AF81761BA581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60397-110D-4495-B799-A991ACA570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1411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0CC89-8C94-4AA2-929B-AF81761BA581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60397-110D-4495-B799-A991ACA570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689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0CC89-8C94-4AA2-929B-AF81761BA581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60397-110D-4495-B799-A991ACA570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8061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0CC89-8C94-4AA2-929B-AF81761BA581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60397-110D-4495-B799-A991ACA570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5665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0CC89-8C94-4AA2-929B-AF81761BA581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60397-110D-4495-B799-A991ACA570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591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0CC89-8C94-4AA2-929B-AF81761BA581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60397-110D-4495-B799-A991ACA570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603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0CC89-8C94-4AA2-929B-AF81761BA581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60397-110D-4495-B799-A991ACA570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7847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7424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 bwMode="ltGray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black">
          <a:xfrm>
            <a:off x="477838" y="2481263"/>
            <a:ext cx="4648200" cy="3810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black">
          <a:xfrm>
            <a:off x="381000" y="1371600"/>
            <a:ext cx="8153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2D5A655-22E0-4C26-B8E1-F2F964BC31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477000"/>
            <a:ext cx="2133600" cy="2444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144716B-DF60-47A4-8329-534B0C1508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숭실대학교  경력개발센터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4184621-B9E7-4CB3-884B-F49FD1EC34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3429000" y="6477000"/>
            <a:ext cx="2133600" cy="244475"/>
          </a:xfrm>
        </p:spPr>
        <p:txBody>
          <a:bodyPr/>
          <a:lstStyle>
            <a:lvl1pPr>
              <a:defRPr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122D84A2-48A3-4A5E-BBB8-A256D48E846D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917313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1A3AA71-0494-4890-873D-808C7549AE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583DFC0-F520-4C8A-93FB-F9A9B490934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1A8315-C5EF-43E5-9264-A71DF21476B5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96">
            <a:extLst>
              <a:ext uri="{FF2B5EF4-FFF2-40B4-BE49-F238E27FC236}">
                <a16:creationId xmlns:a16="http://schemas.microsoft.com/office/drawing/2014/main" id="{4313EE70-A354-49A2-8CBB-6B1A47D1E14B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숭실대학교  경력개발센터</a:t>
            </a:r>
          </a:p>
        </p:txBody>
      </p:sp>
    </p:spTree>
    <p:extLst>
      <p:ext uri="{BB962C8B-B14F-4D97-AF65-F5344CB8AC3E}">
        <p14:creationId xmlns:p14="http://schemas.microsoft.com/office/powerpoint/2010/main" val="30402735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060A199-2236-4682-8BF5-0C1B8984CC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920DEF7-D142-4365-88B9-9D91D440E4A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341532-BF2C-4413-80A3-A96452007267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96">
            <a:extLst>
              <a:ext uri="{FF2B5EF4-FFF2-40B4-BE49-F238E27FC236}">
                <a16:creationId xmlns:a16="http://schemas.microsoft.com/office/drawing/2014/main" id="{1C0772F3-2ABD-4F6D-9C6C-954BFE0960EA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숭실대학교  경력개발센터</a:t>
            </a:r>
          </a:p>
        </p:txBody>
      </p:sp>
    </p:spTree>
    <p:extLst>
      <p:ext uri="{BB962C8B-B14F-4D97-AF65-F5344CB8AC3E}">
        <p14:creationId xmlns:p14="http://schemas.microsoft.com/office/powerpoint/2010/main" val="18397245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481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86300" y="1676400"/>
            <a:ext cx="38481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813A1E-6F9F-45C2-B803-66BDDB181C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1E5DA83-A533-4378-9877-A61149DCA1E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1193AD-E0CD-4BBE-B493-25A36886AC62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7" name="Rectangle 96">
            <a:extLst>
              <a:ext uri="{FF2B5EF4-FFF2-40B4-BE49-F238E27FC236}">
                <a16:creationId xmlns:a16="http://schemas.microsoft.com/office/drawing/2014/main" id="{F3A9DEE3-8A01-4057-92A6-364CC9ECBA9E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숭실대학교  경력개발센터</a:t>
            </a:r>
          </a:p>
        </p:txBody>
      </p:sp>
    </p:spTree>
    <p:extLst>
      <p:ext uri="{BB962C8B-B14F-4D97-AF65-F5344CB8AC3E}">
        <p14:creationId xmlns:p14="http://schemas.microsoft.com/office/powerpoint/2010/main" val="42724009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D7A64C7-1135-48EE-B142-111CD13703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3C8AADC-66C1-414B-8F42-6B2EA3699F9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2E3B3A-E487-4FC7-BAB9-6E1F03B2051F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9" name="Rectangle 96">
            <a:extLst>
              <a:ext uri="{FF2B5EF4-FFF2-40B4-BE49-F238E27FC236}">
                <a16:creationId xmlns:a16="http://schemas.microsoft.com/office/drawing/2014/main" id="{51A5BA8F-7667-4495-9DBF-65F455382403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숭실대학교  경력개발센터</a:t>
            </a:r>
          </a:p>
        </p:txBody>
      </p:sp>
    </p:spTree>
    <p:extLst>
      <p:ext uri="{BB962C8B-B14F-4D97-AF65-F5344CB8AC3E}">
        <p14:creationId xmlns:p14="http://schemas.microsoft.com/office/powerpoint/2010/main" val="27474072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BF0E137-9EA0-43AC-8C43-B58970A01C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5DE81E3-5E56-4F50-9C26-8B4B53AA2E7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F4AF25-5D31-42E7-BBD6-8BBF7F8E5277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96">
            <a:extLst>
              <a:ext uri="{FF2B5EF4-FFF2-40B4-BE49-F238E27FC236}">
                <a16:creationId xmlns:a16="http://schemas.microsoft.com/office/drawing/2014/main" id="{EBEC6407-6345-4D3F-AD7C-E1698860BF6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숭실대학교  경력개발센터</a:t>
            </a:r>
          </a:p>
        </p:txBody>
      </p:sp>
    </p:spTree>
    <p:extLst>
      <p:ext uri="{BB962C8B-B14F-4D97-AF65-F5344CB8AC3E}">
        <p14:creationId xmlns:p14="http://schemas.microsoft.com/office/powerpoint/2010/main" val="16611923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834460F-0DAD-496B-AE76-F3FCE759AB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F3E19A5B-0DF3-49BC-B91A-DE8DF7183C6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DA2FB9-A0CB-41B6-BD70-F50D4DAEC431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31820C73-21F0-4AE6-A36D-D6C2ECF5710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숭실대학교  경력개발센터</a:t>
            </a:r>
          </a:p>
        </p:txBody>
      </p:sp>
    </p:spTree>
    <p:extLst>
      <p:ext uri="{BB962C8B-B14F-4D97-AF65-F5344CB8AC3E}">
        <p14:creationId xmlns:p14="http://schemas.microsoft.com/office/powerpoint/2010/main" val="20585944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D2DA69-906D-4F32-9DA8-5E0312C39F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438665C-DC0F-4EDB-8D88-EF64D4B0172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FA5ACA-91DA-495A-8D81-BEC60F49E375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7" name="Rectangle 96">
            <a:extLst>
              <a:ext uri="{FF2B5EF4-FFF2-40B4-BE49-F238E27FC236}">
                <a16:creationId xmlns:a16="http://schemas.microsoft.com/office/drawing/2014/main" id="{C29A8085-E414-4695-B153-F8F891F8C64B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숭실대학교  경력개발센터</a:t>
            </a:r>
          </a:p>
        </p:txBody>
      </p:sp>
    </p:spTree>
    <p:extLst>
      <p:ext uri="{BB962C8B-B14F-4D97-AF65-F5344CB8AC3E}">
        <p14:creationId xmlns:p14="http://schemas.microsoft.com/office/powerpoint/2010/main" val="28056439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A513E3-F2FB-4F46-A43A-01EB401D29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5D3777A-113C-44AF-86DB-3C241859516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B6D0C6-96D8-460B-83D8-68B94439E2C0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7" name="Rectangle 96">
            <a:extLst>
              <a:ext uri="{FF2B5EF4-FFF2-40B4-BE49-F238E27FC236}">
                <a16:creationId xmlns:a16="http://schemas.microsoft.com/office/drawing/2014/main" id="{81AA559A-96F8-4FF0-A4A6-ED87EBDBE0CF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숭실대학교  경력개발센터</a:t>
            </a:r>
          </a:p>
        </p:txBody>
      </p:sp>
    </p:spTree>
    <p:extLst>
      <p:ext uri="{BB962C8B-B14F-4D97-AF65-F5344CB8AC3E}">
        <p14:creationId xmlns:p14="http://schemas.microsoft.com/office/powerpoint/2010/main" val="16079056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0DFAFF9-96D5-4F3F-9A91-39C84F08D9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930AC8D-1B76-4737-AF3F-EB011442C00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6FFBD8-C863-498D-87D3-59F596D36AE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96">
            <a:extLst>
              <a:ext uri="{FF2B5EF4-FFF2-40B4-BE49-F238E27FC236}">
                <a16:creationId xmlns:a16="http://schemas.microsoft.com/office/drawing/2014/main" id="{4CE2B1A0-2C31-4E7A-A74A-0A2A1C7EC1D9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숭실대학교  경력개발센터</a:t>
            </a:r>
          </a:p>
        </p:txBody>
      </p:sp>
    </p:spTree>
    <p:extLst>
      <p:ext uri="{BB962C8B-B14F-4D97-AF65-F5344CB8AC3E}">
        <p14:creationId xmlns:p14="http://schemas.microsoft.com/office/powerpoint/2010/main" val="32380402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6049962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604996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4C62B9F-31A8-44D7-88CA-B85561CF05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69884B7-BE6F-42E7-90C6-0ED2B5DCF68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A39024-509B-4ACE-9165-72D8A59FB5BF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96">
            <a:extLst>
              <a:ext uri="{FF2B5EF4-FFF2-40B4-BE49-F238E27FC236}">
                <a16:creationId xmlns:a16="http://schemas.microsoft.com/office/drawing/2014/main" id="{FF1032A4-829D-4343-9727-00B74B02704A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숭실대학교  경력개발센터</a:t>
            </a:r>
          </a:p>
        </p:txBody>
      </p:sp>
    </p:spTree>
    <p:extLst>
      <p:ext uri="{BB962C8B-B14F-4D97-AF65-F5344CB8AC3E}">
        <p14:creationId xmlns:p14="http://schemas.microsoft.com/office/powerpoint/2010/main" val="6296843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685800" y="1676400"/>
            <a:ext cx="7848600" cy="4648200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9502E92-11F1-4AF4-B74B-921CAC3BC2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A8ACB9E-6B48-43AD-9D5D-5B088195EA3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67513E-135A-48E6-AF72-453A864FFD83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96">
            <a:extLst>
              <a:ext uri="{FF2B5EF4-FFF2-40B4-BE49-F238E27FC236}">
                <a16:creationId xmlns:a16="http://schemas.microsoft.com/office/drawing/2014/main" id="{BF22E180-F2FF-4170-98DB-102E645414CE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숭실대학교  경력개발센터</a:t>
            </a:r>
          </a:p>
        </p:txBody>
      </p:sp>
    </p:spTree>
    <p:extLst>
      <p:ext uri="{BB962C8B-B14F-4D97-AF65-F5344CB8AC3E}">
        <p14:creationId xmlns:p14="http://schemas.microsoft.com/office/powerpoint/2010/main" val="3225583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0CC89-8C94-4AA2-929B-AF81761BA581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60397-110D-4495-B799-A991ACA5704C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6A18827-B13B-484E-A328-F38AF754D9B6}"/>
              </a:ext>
            </a:extLst>
          </p:cNvPr>
          <p:cNvCxnSpPr>
            <a:cxnSpLocks/>
          </p:cNvCxnSpPr>
          <p:nvPr userDrawn="1"/>
        </p:nvCxnSpPr>
        <p:spPr>
          <a:xfrm>
            <a:off x="0" y="817684"/>
            <a:ext cx="9144000" cy="0"/>
          </a:xfrm>
          <a:prstGeom prst="line">
            <a:avLst/>
          </a:prstGeom>
          <a:ln w="889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D1A2D79-CBC6-46F3-99A7-878A801C3766}"/>
              </a:ext>
            </a:extLst>
          </p:cNvPr>
          <p:cNvCxnSpPr>
            <a:cxnSpLocks/>
          </p:cNvCxnSpPr>
          <p:nvPr userDrawn="1"/>
        </p:nvCxnSpPr>
        <p:spPr>
          <a:xfrm>
            <a:off x="0" y="6520524"/>
            <a:ext cx="9144000" cy="0"/>
          </a:xfrm>
          <a:prstGeom prst="line">
            <a:avLst/>
          </a:prstGeom>
          <a:ln w="476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AA6EDAA-C32F-46A7-B6A7-34B446963938}"/>
              </a:ext>
            </a:extLst>
          </p:cNvPr>
          <p:cNvSpPr txBox="1"/>
          <p:nvPr userDrawn="1"/>
        </p:nvSpPr>
        <p:spPr>
          <a:xfrm>
            <a:off x="7693269" y="6520524"/>
            <a:ext cx="2672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/>
              <a:t>취업과경력개발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574317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>
            <a:extLst>
              <a:ext uri="{FF2B5EF4-FFF2-40B4-BE49-F238E27FC236}">
                <a16:creationId xmlns:a16="http://schemas.microsoft.com/office/drawing/2014/main" id="{5327995B-44C6-459C-8AF6-D108CE6F8C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8486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44EA79A-7860-4A3B-802B-F791A5733C7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685800" y="6486525"/>
            <a:ext cx="1828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0" hangingPunct="1">
              <a:buFontTx/>
              <a:buNone/>
              <a:defRPr kumimoji="0" sz="1200">
                <a:solidFill>
                  <a:schemeClr val="tx2"/>
                </a:solidFill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C02B093-2B5D-4935-B9B8-6D73CC358D4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3756025" y="6475413"/>
            <a:ext cx="2133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0" hangingPunct="1">
              <a:defRPr kumimoji="0" sz="1200" smtClean="0">
                <a:solidFill>
                  <a:schemeClr val="tx2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011ECA93-E7DC-491B-9004-B9D4B81686BB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120" name="Rectangle 96">
            <a:extLst>
              <a:ext uri="{FF2B5EF4-FFF2-40B4-BE49-F238E27FC236}">
                <a16:creationId xmlns:a16="http://schemas.microsoft.com/office/drawing/2014/main" id="{D651C93C-AF6D-4C51-A62E-9CE89368742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6227763" y="6477000"/>
            <a:ext cx="2881312" cy="12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latinLnBrk="0" hangingPunct="0">
              <a:buFontTx/>
              <a:buNone/>
              <a:defRPr kumimoji="0" b="1">
                <a:solidFill>
                  <a:schemeClr val="tx1"/>
                </a:solidFill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r>
              <a:rPr lang="ko-KR" altLang="en-US"/>
              <a:t>숭실대학교  경력개발센터</a:t>
            </a:r>
          </a:p>
        </p:txBody>
      </p:sp>
    </p:spTree>
    <p:extLst>
      <p:ext uri="{BB962C8B-B14F-4D97-AF65-F5344CB8AC3E}">
        <p14:creationId xmlns:p14="http://schemas.microsoft.com/office/powerpoint/2010/main" val="812503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24B8EA-5F24-4D56-AE0D-2937A3F184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C6EE648-CB64-4D19-B70F-6759BEFB1A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46E6AD7-1F91-4C2A-8DBE-AACDD22472D0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C0000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CC4F308-5D07-4301-977A-0689ED0B677D}"/>
              </a:ext>
            </a:extLst>
          </p:cNvPr>
          <p:cNvSpPr/>
          <p:nvPr/>
        </p:nvSpPr>
        <p:spPr>
          <a:xfrm>
            <a:off x="1143000" y="3694112"/>
            <a:ext cx="6772760" cy="1655763"/>
          </a:xfrm>
          <a:prstGeom prst="rect">
            <a:avLst/>
          </a:prstGeom>
          <a:noFill/>
          <a:ln w="444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600" b="1" dirty="0" err="1">
                <a:solidFill>
                  <a:schemeClr val="tx1"/>
                </a:solidFill>
              </a:rPr>
              <a:t>취업과경력개발</a:t>
            </a:r>
            <a:endParaRPr lang="ko-KR" altLang="en-US" sz="6600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C8AF8-2D09-4FF5-9D2E-72D49E9A1DFE}"/>
              </a:ext>
            </a:extLst>
          </p:cNvPr>
          <p:cNvSpPr txBox="1"/>
          <p:nvPr/>
        </p:nvSpPr>
        <p:spPr>
          <a:xfrm>
            <a:off x="537772" y="414606"/>
            <a:ext cx="76469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2026</a:t>
            </a:r>
            <a:r>
              <a:rPr lang="ko-KR" altLang="en-US" sz="4000" b="1" dirty="0"/>
              <a:t>년 </a:t>
            </a:r>
            <a:r>
              <a:rPr lang="en-US" altLang="ko-KR" sz="4000" b="1" dirty="0"/>
              <a:t>1</a:t>
            </a:r>
            <a:r>
              <a:rPr lang="ko-KR" altLang="en-US" sz="4000" b="1" dirty="0"/>
              <a:t>학기</a:t>
            </a:r>
            <a:endParaRPr lang="en-US" altLang="ko-KR" sz="4000" b="1" dirty="0"/>
          </a:p>
          <a:p>
            <a:r>
              <a:rPr lang="en-US" altLang="ko-KR" sz="4000" b="1" dirty="0"/>
              <a:t>(1101</a:t>
            </a:r>
            <a:r>
              <a:rPr lang="ko-KR" altLang="en-US" sz="4000" b="1" dirty="0"/>
              <a:t>  </a:t>
            </a:r>
            <a:r>
              <a:rPr lang="en-US" altLang="ko-KR" sz="4000" b="1" dirty="0"/>
              <a:t>3</a:t>
            </a:r>
            <a:r>
              <a:rPr lang="ko-KR" altLang="en-US" sz="4000" b="1" dirty="0"/>
              <a:t>월 </a:t>
            </a:r>
            <a:r>
              <a:rPr lang="en-US" altLang="ko-KR" sz="4000" b="1" dirty="0"/>
              <a:t>9</a:t>
            </a:r>
            <a:r>
              <a:rPr lang="ko-KR" altLang="en-US" sz="4000" b="1" dirty="0"/>
              <a:t>일</a:t>
            </a:r>
            <a:r>
              <a:rPr lang="en-US" altLang="ko-KR" sz="4000" b="1" dirty="0"/>
              <a:t>)</a:t>
            </a:r>
            <a:endParaRPr lang="ko-KR" altLang="en-US" sz="4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D3ABAAA-55CA-1379-0582-B6E555D6C2C4}"/>
              </a:ext>
            </a:extLst>
          </p:cNvPr>
          <p:cNvSpPr/>
          <p:nvPr/>
        </p:nvSpPr>
        <p:spPr>
          <a:xfrm>
            <a:off x="4912659" y="1996013"/>
            <a:ext cx="3545541" cy="1084263"/>
          </a:xfrm>
          <a:prstGeom prst="rect">
            <a:avLst/>
          </a:prstGeom>
          <a:noFill/>
          <a:ln w="444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b="1" dirty="0">
                <a:solidFill>
                  <a:schemeClr val="tx1"/>
                </a:solidFill>
              </a:rPr>
              <a:t>1</a:t>
            </a:r>
            <a:r>
              <a:rPr lang="ko-KR" altLang="en-US" sz="4000" b="1" dirty="0">
                <a:solidFill>
                  <a:schemeClr val="tx1"/>
                </a:solidFill>
              </a:rPr>
              <a:t>주차 </a:t>
            </a:r>
            <a:r>
              <a:rPr lang="en-US" altLang="ko-KR" sz="4000" b="1" dirty="0">
                <a:solidFill>
                  <a:schemeClr val="tx1"/>
                </a:solidFill>
              </a:rPr>
              <a:t>OT</a:t>
            </a:r>
            <a:endParaRPr lang="ko-KR" altLang="en-US" sz="4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3902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C4938D-0B0A-4E00-9F90-6D3CB74EFC77}"/>
              </a:ext>
            </a:extLst>
          </p:cNvPr>
          <p:cNvSpPr txBox="1"/>
          <p:nvPr/>
        </p:nvSpPr>
        <p:spPr>
          <a:xfrm>
            <a:off x="286719" y="201478"/>
            <a:ext cx="38590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강좌안내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800E67-0F3B-4C98-9C93-7056F898B286}"/>
              </a:ext>
            </a:extLst>
          </p:cNvPr>
          <p:cNvSpPr txBox="1"/>
          <p:nvPr/>
        </p:nvSpPr>
        <p:spPr>
          <a:xfrm>
            <a:off x="588935" y="3339834"/>
            <a:ext cx="7446935" cy="2248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/>
              <a:t>교과목   </a:t>
            </a:r>
            <a:r>
              <a:rPr lang="ko-KR" altLang="en-US" sz="2400" b="1" dirty="0" err="1"/>
              <a:t>취업과경력개발</a:t>
            </a:r>
            <a:r>
              <a:rPr lang="en-US" altLang="ko-KR" sz="2400" b="1" dirty="0"/>
              <a:t>(4</a:t>
            </a:r>
            <a:r>
              <a:rPr lang="ko-KR" altLang="en-US" sz="2400" b="1" dirty="0"/>
              <a:t>학년 수강</a:t>
            </a:r>
            <a:r>
              <a:rPr lang="en-US" altLang="ko-KR" sz="2400" b="1" dirty="0"/>
              <a:t>)</a:t>
            </a:r>
          </a:p>
          <a:p>
            <a:pPr>
              <a:lnSpc>
                <a:spcPct val="150000"/>
              </a:lnSpc>
            </a:pPr>
            <a:endParaRPr lang="en-US" altLang="ko-KR" sz="2400" b="1" dirty="0"/>
          </a:p>
          <a:p>
            <a:pPr>
              <a:lnSpc>
                <a:spcPct val="150000"/>
              </a:lnSpc>
            </a:pPr>
            <a:r>
              <a:rPr lang="ko-KR" altLang="en-US" sz="2400" b="1" dirty="0"/>
              <a:t>담당교수  박윤희</a:t>
            </a:r>
            <a:r>
              <a:rPr lang="en-US" altLang="ko-KR" sz="2400" b="1" dirty="0"/>
              <a:t>(</a:t>
            </a:r>
            <a:r>
              <a:rPr lang="ko-KR" altLang="en-US" sz="2400" b="1" dirty="0" err="1"/>
              <a:t>베어드학부대학</a:t>
            </a:r>
            <a:r>
              <a:rPr lang="ko-KR" altLang="en-US" sz="2400" b="1" dirty="0"/>
              <a:t> 교수</a:t>
            </a:r>
            <a:r>
              <a:rPr lang="en-US" altLang="ko-KR" sz="2400" b="1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                    </a:t>
            </a:r>
            <a:r>
              <a:rPr lang="ko-KR" altLang="en-US" sz="2400" b="1" dirty="0"/>
              <a:t>취업 및 진로지도 교과 담당 </a:t>
            </a:r>
            <a:endParaRPr lang="en-US" altLang="ko-KR" sz="2400" b="1" dirty="0"/>
          </a:p>
        </p:txBody>
      </p:sp>
      <p:grpSp>
        <p:nvGrpSpPr>
          <p:cNvPr id="6" name="Group 7">
            <a:extLst>
              <a:ext uri="{FF2B5EF4-FFF2-40B4-BE49-F238E27FC236}">
                <a16:creationId xmlns:a16="http://schemas.microsoft.com/office/drawing/2014/main" id="{622B0E47-AF14-4C14-9B31-E41704C15B25}"/>
              </a:ext>
            </a:extLst>
          </p:cNvPr>
          <p:cNvGrpSpPr>
            <a:grpSpLocks/>
          </p:cNvGrpSpPr>
          <p:nvPr/>
        </p:nvGrpSpPr>
        <p:grpSpPr bwMode="auto">
          <a:xfrm>
            <a:off x="6684885" y="1162974"/>
            <a:ext cx="1771720" cy="2593981"/>
            <a:chOff x="3515" y="255"/>
            <a:chExt cx="2132" cy="2994"/>
          </a:xfrm>
        </p:grpSpPr>
        <p:pic>
          <p:nvPicPr>
            <p:cNvPr id="7" name="Picture 8">
              <a:extLst>
                <a:ext uri="{FF2B5EF4-FFF2-40B4-BE49-F238E27FC236}">
                  <a16:creationId xmlns:a16="http://schemas.microsoft.com/office/drawing/2014/main" id="{01950475-6574-4950-BC21-2487D1A37D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6" y="391"/>
              <a:ext cx="1818" cy="27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2CF57A5F-E77A-4F53-972F-C4329889A4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5" y="255"/>
              <a:ext cx="2132" cy="2994"/>
            </a:xfrm>
            <a:prstGeom prst="rect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latinLnBrk="1" hangingPunct="1">
                <a:defRPr/>
              </a:pPr>
              <a:endParaRPr lang="ko-KR" altLang="ko-KR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6344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>
            <a:extLst>
              <a:ext uri="{FF2B5EF4-FFF2-40B4-BE49-F238E27FC236}">
                <a16:creationId xmlns:a16="http://schemas.microsoft.com/office/drawing/2014/main" id="{F6C5FEBE-963E-4602-B63A-B8993727F1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523875"/>
            <a:ext cx="7924800" cy="563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ko-KR" altLang="en-US" sz="36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평가 방법 </a:t>
            </a:r>
            <a:r>
              <a:rPr lang="en-US" altLang="ko-KR" sz="36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36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출석</a:t>
            </a:r>
            <a:r>
              <a:rPr lang="en-US" altLang="ko-KR" sz="36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+</a:t>
            </a:r>
            <a:r>
              <a:rPr lang="ko-KR" altLang="en-US" sz="36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과제</a:t>
            </a:r>
            <a:r>
              <a:rPr lang="en-US" altLang="ko-KR" sz="36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7" name="AutoShape 46">
            <a:extLst>
              <a:ext uri="{FF2B5EF4-FFF2-40B4-BE49-F238E27FC236}">
                <a16:creationId xmlns:a16="http://schemas.microsoft.com/office/drawing/2014/main" id="{C8A72309-1B30-4381-B7F0-89D01F125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456" y="1300486"/>
            <a:ext cx="8701088" cy="5291923"/>
          </a:xfrm>
          <a:prstGeom prst="homePlate">
            <a:avLst>
              <a:gd name="adj" fmla="val 15080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di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출석점수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(50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점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)+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과제점수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(50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점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= 60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점 이상 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PASS</a:t>
            </a:r>
          </a:p>
          <a:p>
            <a:pPr marL="0" marR="0" lvl="0" indent="0" algn="di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                                          60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점 미만 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FAIL</a:t>
            </a:r>
          </a:p>
          <a:p>
            <a:pPr marL="0" marR="0" lvl="0" indent="0" algn="di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di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1.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64EB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출석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(50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점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 –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유고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보건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면접 등은 출석으로 적용</a:t>
            </a:r>
            <a:endParaRPr kumimoji="0" lang="en-US" altLang="ko-KR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di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유고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보건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면접 모두 포함 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b="1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회까지만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인정됨</a:t>
            </a:r>
            <a:endParaRPr kumimoji="0" lang="en-US" altLang="ko-KR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di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 외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결석 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 시 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15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점 감점</a:t>
            </a:r>
            <a:endParaRPr kumimoji="0" lang="en-US" altLang="ko-KR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di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지각 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 시 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 감점</a:t>
            </a:r>
            <a:endParaRPr lang="en-US" altLang="ko-KR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di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64EB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과제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(50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점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 ---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과제는 수업시간에 작성 예정</a:t>
            </a:r>
            <a:endParaRPr kumimoji="0" lang="en-US" altLang="ko-KR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di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 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과제 각 항목마다 점수 표시되어 있음</a:t>
            </a:r>
            <a:endParaRPr kumimoji="0" lang="en-US" altLang="ko-KR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A173702A-2925-4967-B9F5-05293FC9C1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23875"/>
            <a:ext cx="7924800" cy="563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평가 방법 </a:t>
            </a:r>
            <a:r>
              <a:rPr kumimoji="0" lang="en-US" altLang="ko-KR" sz="3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(</a:t>
            </a:r>
            <a:r>
              <a:rPr kumimoji="0" lang="ko-KR" altLang="en-US" sz="3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출석</a:t>
            </a:r>
            <a:r>
              <a:rPr kumimoji="0" lang="en-US" altLang="ko-KR" sz="3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+</a:t>
            </a:r>
            <a:r>
              <a:rPr kumimoji="0" lang="ko-KR" altLang="en-US" sz="3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과제</a:t>
            </a:r>
            <a:r>
              <a:rPr kumimoji="0" lang="en-US" altLang="ko-KR" sz="3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)</a:t>
            </a:r>
            <a:endParaRPr kumimoji="0" lang="en-US" altLang="ko-KR" sz="3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AF65A0-4ED2-A4B8-B5B7-7FA52882C108}"/>
              </a:ext>
            </a:extLst>
          </p:cNvPr>
          <p:cNvSpPr txBox="1"/>
          <p:nvPr/>
        </p:nvSpPr>
        <p:spPr>
          <a:xfrm>
            <a:off x="437835" y="1331078"/>
            <a:ext cx="8268330" cy="196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조기취업자는 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개 과제 제출해야 함</a:t>
            </a:r>
            <a:endParaRPr kumimoji="0" lang="en-US" altLang="ko-KR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출석대체과제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온라인 보강 수업은 반드시 시청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대면 수업만 출석 인정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)/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수업과제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(50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점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45082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A173702A-2925-4967-B9F5-05293FC9C1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23875"/>
            <a:ext cx="7924800" cy="563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평가 방법 </a:t>
            </a:r>
            <a:r>
              <a:rPr kumimoji="0" lang="en-US" altLang="ko-KR" sz="3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(</a:t>
            </a:r>
            <a:r>
              <a:rPr kumimoji="0" lang="ko-KR" altLang="en-US" sz="3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출석</a:t>
            </a:r>
            <a:r>
              <a:rPr kumimoji="0" lang="en-US" altLang="ko-KR" sz="3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+</a:t>
            </a:r>
            <a:r>
              <a:rPr kumimoji="0" lang="ko-KR" altLang="en-US" sz="3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과제</a:t>
            </a:r>
            <a:r>
              <a:rPr kumimoji="0" lang="en-US" altLang="ko-KR" sz="3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)</a:t>
            </a:r>
            <a:endParaRPr kumimoji="0" lang="en-US" altLang="ko-KR" sz="3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AF65A0-4ED2-A4B8-B5B7-7FA52882C108}"/>
              </a:ext>
            </a:extLst>
          </p:cNvPr>
          <p:cNvSpPr txBox="1"/>
          <p:nvPr/>
        </p:nvSpPr>
        <p:spPr>
          <a:xfrm>
            <a:off x="437835" y="1331078"/>
            <a:ext cx="8268330" cy="45463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유고결석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보건결석</a:t>
            </a:r>
            <a:r>
              <a:rPr lang="en-US" altLang="ko-KR" sz="2800" b="1" dirty="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, </a:t>
            </a:r>
            <a:r>
              <a:rPr lang="ko-KR" altLang="en-US" sz="2800" b="1" dirty="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면접으로 인한 결석은 출석</a:t>
            </a:r>
            <a:r>
              <a:rPr lang="en-US" altLang="ko-KR" sz="2800" b="1" dirty="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(</a:t>
            </a:r>
            <a:r>
              <a:rPr lang="ko-KR" altLang="en-US" sz="2800" b="1" dirty="0" err="1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공결</a:t>
            </a:r>
            <a:r>
              <a:rPr lang="en-US" altLang="ko-KR" sz="2800" b="1" dirty="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)</a:t>
            </a:r>
            <a:r>
              <a:rPr lang="ko-KR" altLang="en-US" sz="2800" b="1" dirty="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으로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인정</a:t>
            </a:r>
            <a:r>
              <a:rPr lang="en-US" altLang="ko-KR" sz="2800" b="1" dirty="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, </a:t>
            </a:r>
            <a:r>
              <a:rPr lang="ko-KR" altLang="en-US" sz="2800" b="1" dirty="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단 </a:t>
            </a:r>
            <a:r>
              <a:rPr lang="en-US" altLang="ko-KR" sz="2800" b="1" dirty="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5</a:t>
            </a:r>
            <a:r>
              <a:rPr lang="ko-KR" altLang="en-US" sz="2800" b="1" dirty="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회를 넘지 않아야 함</a:t>
            </a:r>
            <a:r>
              <a:rPr lang="en-US" altLang="ko-KR" sz="2800" b="1" dirty="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.</a:t>
            </a:r>
          </a:p>
          <a:p>
            <a:pPr marL="0" marR="0" lvl="0" indent="0" algn="l" defTabSz="4572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dirty="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온라인 보강 수업은 유고결석</a:t>
            </a:r>
            <a:r>
              <a:rPr lang="en-US" altLang="ko-KR" sz="2800" b="1" dirty="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, </a:t>
            </a:r>
            <a:r>
              <a:rPr lang="ko-KR" altLang="en-US" sz="2800" b="1" dirty="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보건결석 인정 안됨</a:t>
            </a:r>
            <a:endParaRPr lang="en-US" altLang="ko-KR" sz="2800" b="1" dirty="0">
              <a:solidFill>
                <a:srgbClr val="FF0000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0" marR="0" lvl="0" indent="0" algn="l" defTabSz="4572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면접의 경우 면접확인서와 그 외 증빙자료 제출 시</a:t>
            </a:r>
            <a:endParaRPr kumimoji="0" lang="en-US" altLang="ko-KR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dirty="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출석 인정 </a:t>
            </a:r>
            <a:endParaRPr lang="en-US" altLang="ko-KR" sz="2800" b="1" dirty="0">
              <a:solidFill>
                <a:srgbClr val="FF0000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10065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205A77-83F6-41A5-AB1D-48371DF0A72D}"/>
              </a:ext>
            </a:extLst>
          </p:cNvPr>
          <p:cNvSpPr txBox="1"/>
          <p:nvPr/>
        </p:nvSpPr>
        <p:spPr>
          <a:xfrm>
            <a:off x="286719" y="201478"/>
            <a:ext cx="38590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강좌안내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9D21A1-D296-437A-82B5-B390132C43B2}"/>
              </a:ext>
            </a:extLst>
          </p:cNvPr>
          <p:cNvSpPr txBox="1"/>
          <p:nvPr/>
        </p:nvSpPr>
        <p:spPr>
          <a:xfrm>
            <a:off x="540785" y="1477248"/>
            <a:ext cx="8313186" cy="3900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다음주 수업 전에 </a:t>
            </a:r>
            <a:r>
              <a:rPr lang="en-US" altLang="ko-KR" sz="2800" b="1" dirty="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LMS</a:t>
            </a:r>
            <a:r>
              <a:rPr lang="ko-KR" altLang="en-US" sz="2800" b="1" dirty="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에 </a:t>
            </a:r>
            <a:r>
              <a:rPr lang="ko-KR" altLang="en-US" sz="2800" b="1" dirty="0" err="1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자리배치표</a:t>
            </a:r>
            <a:r>
              <a:rPr lang="ko-KR" altLang="en-US" sz="2800" b="1" dirty="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 업로드 예정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강의장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뒤편에 </a:t>
            </a:r>
            <a:r>
              <a:rPr kumimoji="0" lang="ko-KR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자리배치표를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붙여 놓을 예정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800" b="1" dirty="0">
              <a:solidFill>
                <a:srgbClr val="FF0000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조금 일찍 오셔서 자리 확인하시고 본인 자리에 </a:t>
            </a:r>
            <a:endParaRPr kumimoji="0" lang="en-US" altLang="ko-KR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dirty="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앉으시기 바랍니다</a:t>
            </a:r>
            <a:r>
              <a:rPr lang="en-US" altLang="ko-KR" sz="2800" b="1" dirty="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. 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한 학기 동안 자리 유지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90125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3B0DD8-2576-4E57-9156-48FA4C4C5B3A}"/>
              </a:ext>
            </a:extLst>
          </p:cNvPr>
          <p:cNvSpPr txBox="1"/>
          <p:nvPr/>
        </p:nvSpPr>
        <p:spPr>
          <a:xfrm>
            <a:off x="286719" y="201478"/>
            <a:ext cx="38590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강의계획서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C058CC-A197-4DAE-9CDD-CC02E9E4E89F}"/>
              </a:ext>
            </a:extLst>
          </p:cNvPr>
          <p:cNvSpPr txBox="1"/>
          <p:nvPr/>
        </p:nvSpPr>
        <p:spPr>
          <a:xfrm>
            <a:off x="746025" y="2173004"/>
            <a:ext cx="7651949" cy="1964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강의계획서</a:t>
            </a:r>
            <a:endParaRPr kumimoji="0" lang="en-US" altLang="ko-KR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dirty="0">
                <a:solidFill>
                  <a:srgbClr val="0070C0"/>
                </a:solidFill>
                <a:latin typeface="Calibri" panose="020F0502020204030204"/>
                <a:ea typeface="맑은 고딕" panose="020B0503020000020004" pitchFamily="50" charset="-127"/>
              </a:rPr>
              <a:t>교재 </a:t>
            </a:r>
            <a:endParaRPr lang="en-US" altLang="ko-KR" sz="2800" b="1" dirty="0">
              <a:solidFill>
                <a:srgbClr val="0070C0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dirty="0">
                <a:solidFill>
                  <a:srgbClr val="0070C0"/>
                </a:solidFill>
                <a:latin typeface="Calibri" panose="020F0502020204030204"/>
                <a:ea typeface="맑은 고딕" panose="020B0503020000020004" pitchFamily="50" charset="-127"/>
              </a:rPr>
              <a:t>과제양식</a:t>
            </a:r>
            <a:endParaRPr lang="en-US" altLang="ko-KR" sz="2800" b="1" dirty="0">
              <a:solidFill>
                <a:srgbClr val="0070C0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7456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A6EE72-47E0-0F94-20D7-4F89D8E63D6C}"/>
              </a:ext>
            </a:extLst>
          </p:cNvPr>
          <p:cNvSpPr txBox="1"/>
          <p:nvPr/>
        </p:nvSpPr>
        <p:spPr>
          <a:xfrm>
            <a:off x="286719" y="201478"/>
            <a:ext cx="38590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과제 양식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D15797-3DDE-70FE-E4B4-65796C2F8ED6}"/>
              </a:ext>
            </a:extLst>
          </p:cNvPr>
          <p:cNvSpPr txBox="1"/>
          <p:nvPr/>
        </p:nvSpPr>
        <p:spPr>
          <a:xfrm>
            <a:off x="489776" y="1888662"/>
            <a:ext cx="8164447" cy="32571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b="1" dirty="0">
                <a:latin typeface="Calibri" panose="020F0502020204030204"/>
                <a:ea typeface="맑은 고딕" panose="020B0503020000020004" pitchFamily="50" charset="-127"/>
              </a:rPr>
              <a:t>LMS</a:t>
            </a:r>
            <a:r>
              <a:rPr lang="ko-KR" altLang="en-US" sz="2800" b="1" dirty="0">
                <a:latin typeface="Calibri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sz="2800" b="1" dirty="0">
                <a:latin typeface="Calibri" panose="020F0502020204030204"/>
                <a:ea typeface="맑은 고딕" panose="020B0503020000020004" pitchFamily="50" charset="-127"/>
              </a:rPr>
              <a:t>1</a:t>
            </a:r>
            <a:r>
              <a:rPr lang="ko-KR" altLang="en-US" sz="2800" b="1" dirty="0">
                <a:latin typeface="Calibri" panose="020F0502020204030204"/>
                <a:ea typeface="맑은 고딕" panose="020B0503020000020004" pitchFamily="50" charset="-127"/>
              </a:rPr>
              <a:t>주차에 업로드 된 </a:t>
            </a:r>
            <a:endParaRPr lang="en-US" altLang="ko-KR" sz="2800" b="1" dirty="0">
              <a:latin typeface="Calibri" panose="020F0502020204030204"/>
              <a:ea typeface="맑은 고딕" panose="020B050302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한글파일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또는 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MS WORD)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과제양식 다운로드</a:t>
            </a:r>
            <a:endParaRPr kumimoji="0" lang="en-US" altLang="ko-KR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800" b="1" dirty="0">
              <a:latin typeface="Calibri" panose="020F0502020204030204"/>
              <a:ea typeface="맑은 고딕" panose="020B050302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dirty="0">
                <a:latin typeface="Calibri" panose="020F0502020204030204"/>
                <a:ea typeface="맑은 고딕" panose="020B0503020000020004" pitchFamily="50" charset="-127"/>
              </a:rPr>
              <a:t>수업시간에 지참</a:t>
            </a:r>
            <a:endParaRPr lang="en-US" altLang="ko-KR" sz="2800" b="1" dirty="0">
              <a:latin typeface="Calibri" panose="020F0502020204030204"/>
              <a:ea typeface="맑은 고딕" panose="020B050302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dirty="0">
                <a:latin typeface="Calibri" panose="020F0502020204030204"/>
                <a:ea typeface="맑은 고딕" panose="020B0503020000020004" pitchFamily="50" charset="-127"/>
              </a:rPr>
              <a:t>수업시간에 과제 작성할 수 있도록 준비</a:t>
            </a:r>
            <a:endParaRPr lang="en-US" altLang="ko-KR" sz="2800" b="1" dirty="0">
              <a:latin typeface="Calibri" panose="020F050202020403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877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>
            <a:extLst>
              <a:ext uri="{FF2B5EF4-FFF2-40B4-BE49-F238E27FC236}">
                <a16:creationId xmlns:a16="http://schemas.microsoft.com/office/drawing/2014/main" id="{39D9B320-6BEE-4A61-91F9-E42C6EAA33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0AC3DE45-DB83-4307-946F-E88D9A068E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413" name="Rectangle 6">
            <a:extLst>
              <a:ext uri="{FF2B5EF4-FFF2-40B4-BE49-F238E27FC236}">
                <a16:creationId xmlns:a16="http://schemas.microsoft.com/office/drawing/2014/main" id="{BAA22195-34A3-4074-A32F-FD73742E0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414" name="Rectangle 9">
            <a:extLst>
              <a:ext uri="{FF2B5EF4-FFF2-40B4-BE49-F238E27FC236}">
                <a16:creationId xmlns:a16="http://schemas.microsoft.com/office/drawing/2014/main" id="{D245F0A9-443F-44F2-A0D2-FC8255F62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EB37E94-50F9-4CE9-93A0-A3970CFA6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6624"/>
            <a:ext cx="9144000" cy="5473721"/>
          </a:xfrm>
          <a:prstGeom prst="rect">
            <a:avLst/>
          </a:prstGeom>
        </p:spPr>
      </p:pic>
      <p:sp>
        <p:nvSpPr>
          <p:cNvPr id="14" name="직사각형 4">
            <a:extLst>
              <a:ext uri="{FF2B5EF4-FFF2-40B4-BE49-F238E27FC236}">
                <a16:creationId xmlns:a16="http://schemas.microsoft.com/office/drawing/2014/main" id="{9E13F89C-0B2B-4C49-A261-821EB40BC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006" y="527112"/>
            <a:ext cx="853598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진로취업센터 홈페이지  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http://job.ssu.ac.kr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 U-Saint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아이디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비밀번호 동일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258B7A-E050-4C39-900A-598B8ABBFB0E}"/>
              </a:ext>
            </a:extLst>
          </p:cNvPr>
          <p:cNvSpPr txBox="1"/>
          <p:nvPr/>
        </p:nvSpPr>
        <p:spPr>
          <a:xfrm>
            <a:off x="2130641" y="1286624"/>
            <a:ext cx="590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학교 홈페이지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–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대학생활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-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학생경력관리</a:t>
            </a:r>
          </a:p>
        </p:txBody>
      </p:sp>
    </p:spTree>
    <p:extLst>
      <p:ext uri="{BB962C8B-B14F-4D97-AF65-F5344CB8AC3E}">
        <p14:creationId xmlns:p14="http://schemas.microsoft.com/office/powerpoint/2010/main" val="2109000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371E7AFD-D4D2-480A-B6E8-A31E612F9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7907"/>
            <a:ext cx="9144000" cy="5563220"/>
          </a:xfrm>
          <a:prstGeom prst="rect">
            <a:avLst/>
          </a:prstGeom>
        </p:spPr>
      </p:pic>
      <p:sp>
        <p:nvSpPr>
          <p:cNvPr id="7" name="직사각형 4">
            <a:extLst>
              <a:ext uri="{FF2B5EF4-FFF2-40B4-BE49-F238E27FC236}">
                <a16:creationId xmlns:a16="http://schemas.microsoft.com/office/drawing/2014/main" id="{98568FC9-35C5-4188-AF3B-772F6BBEA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006" y="527112"/>
            <a:ext cx="853598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진로취업센터 홈페이지  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http://job.ssu.ac.kr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 U-Saint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아이디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비밀번호 동일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5960592-D32D-4D09-B874-F362D232BA84}"/>
              </a:ext>
            </a:extLst>
          </p:cNvPr>
          <p:cNvSpPr/>
          <p:nvPr/>
        </p:nvSpPr>
        <p:spPr bwMode="auto">
          <a:xfrm>
            <a:off x="4092605" y="1242874"/>
            <a:ext cx="790113" cy="497149"/>
          </a:xfrm>
          <a:prstGeom prst="ellipse">
            <a:avLst/>
          </a:prstGeom>
          <a:noFill/>
          <a:ln w="349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6689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9BD0EC58-0BFC-4128-9DF1-77A774815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44" y="428605"/>
            <a:ext cx="8858311" cy="69198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>
            <a:bevelT w="133350" prst="coolSlant"/>
          </a:sp3d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987E3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나눔고딕" pitchFamily="50" charset="-127"/>
                <a:ea typeface="나눔고딕" pitchFamily="50" charset="-127"/>
                <a:cs typeface="한양신명조"/>
              </a:rPr>
              <a:t>진로취업센터 프로그램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나눔고딕" pitchFamily="50" charset="-127"/>
                <a:ea typeface="나눔고딕" pitchFamily="50" charset="-127"/>
                <a:cs typeface="한양신명조"/>
              </a:rPr>
              <a:t>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나눔고딕" pitchFamily="50" charset="-127"/>
                <a:ea typeface="나눔고딕" pitchFamily="50" charset="-127"/>
                <a:cs typeface="한양신명조"/>
              </a:rPr>
              <a:t> 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13" name="AutoShape 26">
            <a:extLst>
              <a:ext uri="{FF2B5EF4-FFF2-40B4-BE49-F238E27FC236}">
                <a16:creationId xmlns:a16="http://schemas.microsoft.com/office/drawing/2014/main" id="{129CDF69-DE26-4E64-B7C8-8F6331F06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6" y="1212185"/>
            <a:ext cx="720725" cy="571504"/>
          </a:xfrm>
          <a:prstGeom prst="upArrow">
            <a:avLst>
              <a:gd name="adj1" fmla="val 50000"/>
              <a:gd name="adj2" fmla="val 37403"/>
            </a:avLst>
          </a:prstGeom>
          <a:solidFill>
            <a:schemeClr val="accent6">
              <a:lumMod val="75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>
            <a:bevelT w="133350" prst="coolSlant"/>
          </a:sp3d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15" name="AutoShape 12">
            <a:extLst>
              <a:ext uri="{FF2B5EF4-FFF2-40B4-BE49-F238E27FC236}">
                <a16:creationId xmlns:a16="http://schemas.microsoft.com/office/drawing/2014/main" id="{27641891-3C58-47ED-8B92-A2FC24E95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084" y="1622613"/>
            <a:ext cx="7363831" cy="5136776"/>
          </a:xfrm>
          <a:prstGeom prst="roundRect">
            <a:avLst>
              <a:gd name="adj" fmla="val 16667"/>
            </a:avLst>
          </a:prstGeom>
          <a:solidFill>
            <a:srgbClr val="E9F6F7"/>
          </a:solidFill>
          <a:ln w="9525">
            <a:solidFill>
              <a:schemeClr val="tx1"/>
            </a:solidFill>
            <a:round/>
            <a:headEnd/>
            <a:tailEnd/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>
            <a:bevelT w="133350" prst="coolSlant"/>
          </a:sp3d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l"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진로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/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취업상담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프로그램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l"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현장실습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(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직장체험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) – 3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학년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~ 4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학년 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l"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학교 추천 채용</a:t>
            </a:r>
          </a:p>
          <a:p>
            <a:pPr marL="0" marR="0" lvl="0" indent="0" algn="l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l"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자기소개서 클리닉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(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취업상담 메뉴에서 신청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l"/>
              <a:tabLst/>
              <a:defRPr/>
            </a:pPr>
            <a:r>
              <a:rPr kumimoji="0" lang="ko-KR" alt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숭실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진로취업 커리어캠프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l"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GSAT/NCS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집중교육</a:t>
            </a:r>
            <a:r>
              <a:rPr kumimoji="0" lang="ko-KR" alt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l"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현직 멘토와 함께하는 직무경험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l"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NCS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기반 중심 교육 프로그램</a:t>
            </a:r>
          </a:p>
          <a:p>
            <a:pPr marL="0" marR="0" lvl="0" indent="0" algn="l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l"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선배멘토링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l"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졸업생을 위한 나에게 맞는 직업설계</a:t>
            </a:r>
            <a:r>
              <a:rPr kumimoji="0" lang="ko-KR" alt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l"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AI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역량평가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(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면접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l"/>
              <a:tabLst/>
              <a:defRPr/>
            </a:pPr>
            <a:r>
              <a:rPr kumimoji="0" lang="ko-KR" alt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취업특강</a:t>
            </a:r>
            <a:r>
              <a:rPr kumimoji="0" lang="ko-KR" alt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l"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실전대비 면접 </a:t>
            </a: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뽀개기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36TGp_sky_light">
  <a:themeElements>
    <a:clrScheme name="236TGp_sky_light 2">
      <a:dk1>
        <a:srgbClr val="000000"/>
      </a:dk1>
      <a:lt1>
        <a:srgbClr val="FFFFFF"/>
      </a:lt1>
      <a:dk2>
        <a:srgbClr val="364EB6"/>
      </a:dk2>
      <a:lt2>
        <a:srgbClr val="C0C0C0"/>
      </a:lt2>
      <a:accent1>
        <a:srgbClr val="4987E3"/>
      </a:accent1>
      <a:accent2>
        <a:srgbClr val="D9520F"/>
      </a:accent2>
      <a:accent3>
        <a:srgbClr val="FFFFFF"/>
      </a:accent3>
      <a:accent4>
        <a:srgbClr val="000000"/>
      </a:accent4>
      <a:accent5>
        <a:srgbClr val="B1C3EF"/>
      </a:accent5>
      <a:accent6>
        <a:srgbClr val="C4490C"/>
      </a:accent6>
      <a:hlink>
        <a:srgbClr val="36A1B6"/>
      </a:hlink>
      <a:folHlink>
        <a:srgbClr val="9CC769"/>
      </a:folHlink>
    </a:clrScheme>
    <a:fontScheme name="236TGp_sky_ligh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Char char="•"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맑은 고딕" pitchFamily="50" charset="-127"/>
            <a:ea typeface="맑은 고딕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Char char="•"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맑은 고딕" pitchFamily="50" charset="-127"/>
            <a:ea typeface="맑은 고딕" pitchFamily="50" charset="-127"/>
          </a:defRPr>
        </a:defPPr>
      </a:lstStyle>
    </a:lnDef>
  </a:objectDefaults>
  <a:extraClrSchemeLst>
    <a:extraClrScheme>
      <a:clrScheme name="236TGp_sky_light 1">
        <a:dk1>
          <a:srgbClr val="000000"/>
        </a:dk1>
        <a:lt1>
          <a:srgbClr val="FFFFFF"/>
        </a:lt1>
        <a:dk2>
          <a:srgbClr val="501A82"/>
        </a:dk2>
        <a:lt2>
          <a:srgbClr val="969696"/>
        </a:lt2>
        <a:accent1>
          <a:srgbClr val="117AC1"/>
        </a:accent1>
        <a:accent2>
          <a:srgbClr val="38B890"/>
        </a:accent2>
        <a:accent3>
          <a:srgbClr val="FFFFFF"/>
        </a:accent3>
        <a:accent4>
          <a:srgbClr val="000000"/>
        </a:accent4>
        <a:accent5>
          <a:srgbClr val="AABEDD"/>
        </a:accent5>
        <a:accent6>
          <a:srgbClr val="32A682"/>
        </a:accent6>
        <a:hlink>
          <a:srgbClr val="D17FB6"/>
        </a:hlink>
        <a:folHlink>
          <a:srgbClr val="E3981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36TGp_sky_light 2">
        <a:dk1>
          <a:srgbClr val="000000"/>
        </a:dk1>
        <a:lt1>
          <a:srgbClr val="FFFFFF"/>
        </a:lt1>
        <a:dk2>
          <a:srgbClr val="364EB6"/>
        </a:dk2>
        <a:lt2>
          <a:srgbClr val="C0C0C0"/>
        </a:lt2>
        <a:accent1>
          <a:srgbClr val="4987E3"/>
        </a:accent1>
        <a:accent2>
          <a:srgbClr val="D9520F"/>
        </a:accent2>
        <a:accent3>
          <a:srgbClr val="FFFFFF"/>
        </a:accent3>
        <a:accent4>
          <a:srgbClr val="000000"/>
        </a:accent4>
        <a:accent5>
          <a:srgbClr val="B1C3EF"/>
        </a:accent5>
        <a:accent6>
          <a:srgbClr val="C4490C"/>
        </a:accent6>
        <a:hlink>
          <a:srgbClr val="36A1B6"/>
        </a:hlink>
        <a:folHlink>
          <a:srgbClr val="9CC76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36TGp_sky_light 3">
        <a:dk1>
          <a:srgbClr val="000000"/>
        </a:dk1>
        <a:lt1>
          <a:srgbClr val="FFFFFF"/>
        </a:lt1>
        <a:dk2>
          <a:srgbClr val="186894"/>
        </a:dk2>
        <a:lt2>
          <a:srgbClr val="969696"/>
        </a:lt2>
        <a:accent1>
          <a:srgbClr val="2AA08A"/>
        </a:accent1>
        <a:accent2>
          <a:srgbClr val="9C88E6"/>
        </a:accent2>
        <a:accent3>
          <a:srgbClr val="FFFFFF"/>
        </a:accent3>
        <a:accent4>
          <a:srgbClr val="000000"/>
        </a:accent4>
        <a:accent5>
          <a:srgbClr val="ACCDC4"/>
        </a:accent5>
        <a:accent6>
          <a:srgbClr val="8D7BD0"/>
        </a:accent6>
        <a:hlink>
          <a:srgbClr val="7D96D3"/>
        </a:hlink>
        <a:folHlink>
          <a:srgbClr val="DEDB7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123</TotalTime>
  <Words>375</Words>
  <Application>Microsoft Office PowerPoint</Application>
  <PresentationFormat>화면 슬라이드 쇼(4:3)</PresentationFormat>
  <Paragraphs>62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11</vt:i4>
      </vt:variant>
    </vt:vector>
  </HeadingPairs>
  <TitlesOfParts>
    <vt:vector size="21" baseType="lpstr">
      <vt:lpstr>굴림</vt:lpstr>
      <vt:lpstr>나눔고딕</vt:lpstr>
      <vt:lpstr>맑은 고딕</vt:lpstr>
      <vt:lpstr>한양신명조</vt:lpstr>
      <vt:lpstr>Arial</vt:lpstr>
      <vt:lpstr>Calibri</vt:lpstr>
      <vt:lpstr>Calibri Light</vt:lpstr>
      <vt:lpstr>Wingdings</vt:lpstr>
      <vt:lpstr>Office 테마</vt:lpstr>
      <vt:lpstr>236TGp_sky_light</vt:lpstr>
      <vt:lpstr>PowerPoint 프레젠테이션</vt:lpstr>
      <vt:lpstr>PowerPoint 프레젠테이션</vt:lpstr>
      <vt:lpstr>평가 방법 (출석+과제)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poohwinn@ssu.ac.kr</dc:creator>
  <cp:lastModifiedBy>SSU</cp:lastModifiedBy>
  <cp:revision>173</cp:revision>
  <cp:lastPrinted>2022-02-15T02:57:36Z</cp:lastPrinted>
  <dcterms:created xsi:type="dcterms:W3CDTF">2020-03-02T04:22:53Z</dcterms:created>
  <dcterms:modified xsi:type="dcterms:W3CDTF">2026-02-20T02:28:28Z</dcterms:modified>
</cp:coreProperties>
</file>